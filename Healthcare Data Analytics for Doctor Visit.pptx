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3"/>
  </p:notesMasterIdLst>
  <p:handoutMasterIdLst>
    <p:handoutMasterId r:id="rId14"/>
  </p:handoutMasterIdLst>
  <p:sldIdLst>
    <p:sldId id="338" r:id="rId5"/>
    <p:sldId id="327" r:id="rId6"/>
    <p:sldId id="315" r:id="rId7"/>
    <p:sldId id="329" r:id="rId8"/>
    <p:sldId id="302" r:id="rId9"/>
    <p:sldId id="339" r:id="rId10"/>
    <p:sldId id="340" r:id="rId11"/>
    <p:sldId id="304"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67BBC5-90FB-0B4C-ED85-F72C7BA7CE4A}" v="1" dt="2022-06-06T12:10:26.22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768"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10/7/2026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10/7/2026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10/7/2026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10/7/2026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10/7/2026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10/7/2026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10/7/2026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10/7/2026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ankitha122004-art/Healthcare-Analytics-For-Doctors-Visits-TIRTC/upload" TargetMode="External"/><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901116" y="4114008"/>
            <a:ext cx="3400089" cy="861497"/>
          </a:xfrm>
        </p:spPr>
        <p:txBody>
          <a:bodyPr>
            <a:normAutofit/>
          </a:bodyPr>
          <a:lstStyle/>
          <a:p>
            <a:pPr algn="r"/>
            <a:r>
              <a:rPr lang="en-US" sz="2400" b="0" dirty="0">
                <a:solidFill>
                  <a:schemeClr val="tx1"/>
                </a:solidFill>
              </a:rPr>
              <a:t>Ankitha M</a:t>
            </a:r>
            <a:endParaRPr lang="en-IN" sz="2400"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5957" y="2682086"/>
            <a:ext cx="9922174" cy="1085325"/>
          </a:xfrm>
        </p:spPr>
        <p:txBody>
          <a:bodyPr>
            <a:normAutofit/>
          </a:bodyPr>
          <a:lstStyle/>
          <a:p>
            <a:r>
              <a:rPr lang="en-US" sz="3200" dirty="0"/>
              <a:t>Healthcare Analytics For Doctors Visits TIRTC</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a:normAutofit fontScale="85000" lnSpcReduction="20000"/>
          </a:bodyPr>
          <a:lstStyle/>
          <a:p>
            <a:pPr>
              <a:lnSpc>
                <a:spcPct val="150000"/>
              </a:lnSpc>
            </a:pPr>
            <a:r>
              <a:rPr lang="en-US" sz="2800" dirty="0"/>
              <a:t>Analyzing patients visit to identify which groups visit doctors more frequently. Explore how illness, health status and chronic conditions relate to visit patterns. Provide data-driven insights to help hospital management improve healthcare services.</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10041813" cy="830997"/>
          </a:xfrm>
        </p:spPr>
        <p:txBody>
          <a:bodyPr>
            <a:noAutofit/>
          </a:bodyPr>
          <a:lstStyle/>
          <a:p>
            <a:r>
              <a:rPr lang="en-GB" sz="2800" dirty="0"/>
              <a:t>PROJECT DESCRIPTION</a:t>
            </a:r>
            <a:br>
              <a:rPr lang="en-GB" sz="1800" dirty="0"/>
            </a:br>
            <a:br>
              <a:rPr lang="en-IN" sz="1800" b="0" dirty="0"/>
            </a:br>
            <a:br>
              <a:rPr lang="en-IN" sz="1800" b="0" dirty="0"/>
            </a:br>
            <a:br>
              <a:rPr lang="en-IN" sz="1800" b="0" dirty="0"/>
            </a:br>
            <a:br>
              <a:rPr lang="en-IN" sz="1800" b="0" dirty="0"/>
            </a:br>
            <a:r>
              <a:rPr lang="en-IN" sz="1800" b="0" dirty="0"/>
              <a:t>This project focuses on executing exploratory data analysis and predictive </a:t>
            </a:r>
            <a:r>
              <a:rPr lang="en-IN" sz="1800" b="0" dirty="0" err="1"/>
              <a:t>modeling</a:t>
            </a:r>
            <a:r>
              <a:rPr lang="en-IN" sz="1800" b="0" dirty="0"/>
              <a:t> on a comprehensive healthcare dataset. The main goal is to uncover hidden relationships between patient demographic profiles, health status variables, and insurance types to understand what drives healthcare utilization. By identifying these patterns, the project provides actionable insights to help healthcare providers optimize patient care strategies, allocate resources efficiently, and improve overall operational decision-making.</a:t>
            </a:r>
            <a:br>
              <a:rPr lang="en-IN" sz="1800" b="0" dirty="0"/>
            </a:br>
            <a:br>
              <a:rPr lang="en-GB" sz="1800" dirty="0"/>
            </a:br>
            <a:endParaRPr lang="en-IN" sz="18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algn="just">
              <a:lnSpc>
                <a:spcPct val="150000"/>
              </a:lnSpc>
            </a:pPr>
            <a:r>
              <a:rPr lang="en-US" dirty="0"/>
              <a:t>Doctors and Healthcare professionals</a:t>
            </a:r>
          </a:p>
          <a:p>
            <a:pPr algn="just">
              <a:lnSpc>
                <a:spcPct val="150000"/>
              </a:lnSpc>
            </a:pPr>
            <a:r>
              <a:rPr lang="en-US" dirty="0"/>
              <a:t>Public health organizers</a:t>
            </a:r>
          </a:p>
          <a:p>
            <a:pPr algn="just">
              <a:lnSpc>
                <a:spcPct val="150000"/>
              </a:lnSpc>
            </a:pPr>
            <a:r>
              <a:rPr lang="en-US" dirty="0"/>
              <a:t>Hospital management and administrators</a:t>
            </a:r>
            <a:endParaRPr lang="en-IN"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1">
              <a:lnSpc>
                <a:spcPct val="150000"/>
              </a:lnSpc>
            </a:pPr>
            <a:r>
              <a:rPr lang="en-US" dirty="0"/>
              <a:t>Python</a:t>
            </a:r>
          </a:p>
          <a:p>
            <a:pPr lvl="1">
              <a:lnSpc>
                <a:spcPct val="150000"/>
              </a:lnSpc>
            </a:pPr>
            <a:r>
              <a:rPr lang="en-US" dirty="0"/>
              <a:t>Pandas</a:t>
            </a:r>
          </a:p>
          <a:p>
            <a:pPr lvl="1">
              <a:lnSpc>
                <a:spcPct val="150000"/>
              </a:lnSpc>
            </a:pPr>
            <a:r>
              <a:rPr lang="en-US" dirty="0" err="1"/>
              <a:t>Numpy</a:t>
            </a:r>
            <a:endParaRPr lang="en-US" dirty="0"/>
          </a:p>
          <a:p>
            <a:pPr lvl="1">
              <a:lnSpc>
                <a:spcPct val="150000"/>
              </a:lnSpc>
            </a:pPr>
            <a:r>
              <a:rPr lang="en-US" dirty="0"/>
              <a:t>Matplotlib</a:t>
            </a:r>
          </a:p>
          <a:p>
            <a:pPr lvl="1">
              <a:lnSpc>
                <a:spcPct val="150000"/>
              </a:lnSpc>
            </a:pPr>
            <a:r>
              <a:rPr lang="en-US" dirty="0"/>
              <a:t>Sea born   </a:t>
            </a:r>
          </a:p>
          <a:p>
            <a:pPr lvl="1">
              <a:lnSpc>
                <a:spcPct val="150000"/>
              </a:lnSpc>
            </a:pPr>
            <a:r>
              <a:rPr lang="en-US" dirty="0"/>
              <a:t>Google </a:t>
            </a:r>
            <a:r>
              <a:rPr lang="en-US" dirty="0" err="1"/>
              <a:t>Colab</a:t>
            </a: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4" end="4"/>
                                            </p:txEl>
                                          </p:spTgt>
                                        </p:tgtEl>
                                        <p:attrNameLst>
                                          <p:attrName>style.visibility</p:attrName>
                                        </p:attrNameLst>
                                      </p:cBhvr>
                                      <p:to>
                                        <p:strVal val="visible"/>
                                      </p:to>
                                    </p:set>
                                    <p:animEffect transition="in" filter="fade">
                                      <p:cBhvr>
                                        <p:cTn id="34" dur="1000"/>
                                        <p:tgtEl>
                                          <p:spTgt spid="7">
                                            <p:txEl>
                                              <p:pRg st="4" end="4"/>
                                            </p:txEl>
                                          </p:spTgt>
                                        </p:tgtEl>
                                      </p:cBhvr>
                                    </p:animEffect>
                                    <p:anim calcmode="lin" valueType="num">
                                      <p:cBhvr>
                                        <p:cTn id="3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4" end="4"/>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7">
                                            <p:txEl>
                                              <p:pRg st="5" end="5"/>
                                            </p:txEl>
                                          </p:spTgt>
                                        </p:tgtEl>
                                        <p:attrNameLst>
                                          <p:attrName>style.visibility</p:attrName>
                                        </p:attrNameLst>
                                      </p:cBhvr>
                                      <p:to>
                                        <p:strVal val="visible"/>
                                      </p:to>
                                    </p:set>
                                    <p:animEffect transition="in" filter="fade">
                                      <p:cBhvr>
                                        <p:cTn id="39" dur="1000"/>
                                        <p:tgtEl>
                                          <p:spTgt spid="7">
                                            <p:txEl>
                                              <p:pRg st="5" end="5"/>
                                            </p:txEl>
                                          </p:spTgt>
                                        </p:tgtEl>
                                      </p:cBhvr>
                                    </p:animEffect>
                                    <p:anim calcmode="lin" valueType="num">
                                      <p:cBhvr>
                                        <p:cTn id="4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endParaRPr lang="en-IN" b="0" u="sng" dirty="0">
              <a:solidFill>
                <a:srgbClr val="0070C0"/>
              </a:solidFill>
            </a:endParaRPr>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15D2F37F-A6F0-A065-BFB2-15FE8D4CF979}"/>
              </a:ext>
            </a:extLst>
          </p:cNvPr>
          <p:cNvPicPr>
            <a:picLocks noChangeAspect="1"/>
          </p:cNvPicPr>
          <p:nvPr/>
        </p:nvPicPr>
        <p:blipFill>
          <a:blip r:embed="rId3"/>
          <a:stretch>
            <a:fillRect/>
          </a:stretch>
        </p:blipFill>
        <p:spPr>
          <a:xfrm>
            <a:off x="390345" y="1431693"/>
            <a:ext cx="6248942" cy="4999153"/>
          </a:xfrm>
          <a:prstGeom prst="rect">
            <a:avLst/>
          </a:prstGeom>
        </p:spPr>
      </p:pic>
      <p:pic>
        <p:nvPicPr>
          <p:cNvPr id="11" name="Picture 10">
            <a:extLst>
              <a:ext uri="{FF2B5EF4-FFF2-40B4-BE49-F238E27FC236}">
                <a16:creationId xmlns:a16="http://schemas.microsoft.com/office/drawing/2014/main" id="{60E8EFEF-326A-852F-2608-E58AF88C46EC}"/>
              </a:ext>
            </a:extLst>
          </p:cNvPr>
          <p:cNvPicPr>
            <a:picLocks noChangeAspect="1"/>
          </p:cNvPicPr>
          <p:nvPr/>
        </p:nvPicPr>
        <p:blipFill>
          <a:blip r:embed="rId4"/>
          <a:stretch>
            <a:fillRect/>
          </a:stretch>
        </p:blipFill>
        <p:spPr>
          <a:xfrm>
            <a:off x="5924938" y="1390619"/>
            <a:ext cx="6064899" cy="3017169"/>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AAEC83-51DA-845E-B3E8-79CC7BFB6AFE}"/>
              </a:ext>
            </a:extLst>
          </p:cNvPr>
          <p:cNvSpPr>
            <a:spLocks noGrp="1"/>
          </p:cNvSpPr>
          <p:nvPr>
            <p:ph type="sldNum" sz="quarter" idx="12"/>
          </p:nvPr>
        </p:nvSpPr>
        <p:spPr/>
        <p:txBody>
          <a:bodyPr/>
          <a:lstStyle/>
          <a:p>
            <a:fld id="{D57F1E4F-1CFF-5643-939E-217C01CDF565}" type="slidenum">
              <a:rPr lang="en-US" smtClean="0"/>
              <a:pPr/>
              <a:t>7</a:t>
            </a:fld>
            <a:endParaRPr lang="en-US" dirty="0"/>
          </a:p>
        </p:txBody>
      </p:sp>
      <p:pic>
        <p:nvPicPr>
          <p:cNvPr id="4" name="Picture 3">
            <a:extLst>
              <a:ext uri="{FF2B5EF4-FFF2-40B4-BE49-F238E27FC236}">
                <a16:creationId xmlns:a16="http://schemas.microsoft.com/office/drawing/2014/main" id="{EC2A8467-2928-7734-F706-520FF8CF71B8}"/>
              </a:ext>
            </a:extLst>
          </p:cNvPr>
          <p:cNvPicPr>
            <a:picLocks noChangeAspect="1"/>
          </p:cNvPicPr>
          <p:nvPr/>
        </p:nvPicPr>
        <p:blipFill>
          <a:blip r:embed="rId2"/>
          <a:stretch>
            <a:fillRect/>
          </a:stretch>
        </p:blipFill>
        <p:spPr>
          <a:xfrm>
            <a:off x="467490" y="373224"/>
            <a:ext cx="5270837" cy="6381467"/>
          </a:xfrm>
          <a:prstGeom prst="rect">
            <a:avLst/>
          </a:prstGeom>
        </p:spPr>
      </p:pic>
      <p:pic>
        <p:nvPicPr>
          <p:cNvPr id="6" name="Picture 5">
            <a:extLst>
              <a:ext uri="{FF2B5EF4-FFF2-40B4-BE49-F238E27FC236}">
                <a16:creationId xmlns:a16="http://schemas.microsoft.com/office/drawing/2014/main" id="{B2005F6D-CCFD-B03C-2953-A3EDBAD85B52}"/>
              </a:ext>
            </a:extLst>
          </p:cNvPr>
          <p:cNvPicPr>
            <a:picLocks noChangeAspect="1"/>
          </p:cNvPicPr>
          <p:nvPr/>
        </p:nvPicPr>
        <p:blipFill>
          <a:blip r:embed="rId3"/>
          <a:stretch>
            <a:fillRect/>
          </a:stretch>
        </p:blipFill>
        <p:spPr>
          <a:xfrm>
            <a:off x="5539977" y="1146464"/>
            <a:ext cx="5273497" cy="4397121"/>
          </a:xfrm>
          <a:prstGeom prst="rect">
            <a:avLst/>
          </a:prstGeom>
        </p:spPr>
      </p:pic>
    </p:spTree>
    <p:extLst>
      <p:ext uri="{BB962C8B-B14F-4D97-AF65-F5344CB8AC3E}">
        <p14:creationId xmlns:p14="http://schemas.microsoft.com/office/powerpoint/2010/main" val="39668817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1396800" y="666361"/>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1489547" y="3622776"/>
            <a:ext cx="6746148" cy="798575"/>
          </a:xfrm>
        </p:spPr>
        <p:txBody>
          <a:bodyPr>
            <a:normAutofit/>
          </a:bodyPr>
          <a:lstStyle/>
          <a:p>
            <a:r>
              <a:rPr lang="en-IN" dirty="0"/>
              <a:t>https://github.com/ankitha122004-art/</a:t>
            </a:r>
            <a:r>
              <a:rPr lang="en-IN" dirty="0">
                <a:hlinkClick r:id="rId3"/>
              </a:rPr>
              <a:t>Healthcare-Analytics-For-Doctors-Visits-TIRTC</a:t>
            </a:r>
            <a:r>
              <a:rPr lang="en-IN" b="0" dirty="0"/>
              <a:t>/</a:t>
            </a:r>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594</TotalTime>
  <Words>182</Words>
  <Application>Microsoft Office PowerPoint</Application>
  <PresentationFormat>Widescreen</PresentationFormat>
  <Paragraphs>25</Paragraphs>
  <Slides>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Trebuchet MS</vt:lpstr>
      <vt:lpstr>Wingdings</vt:lpstr>
      <vt:lpstr>Wingdings 3</vt:lpstr>
      <vt:lpstr>Facet</vt:lpstr>
      <vt:lpstr>Healthcare Analytics For Doctors Visits TIRTC</vt:lpstr>
      <vt:lpstr>PROBLEM  STATEMENT</vt:lpstr>
      <vt:lpstr>PROJECT DESCRIPTION     This project focuses on executing exploratory data analysis and predictive modeling on a comprehensive healthcare dataset. The main goal is to uncover hidden relationships between patient demographic profiles, health status variables, and insurance types to understand what drives healthcare utilization. By identifying these patterns, the project provides actionable insights to help healthcare providers optimize patient care strategies, allocate resources efficiently, and improve overall operational decision-making.  </vt:lpstr>
      <vt:lpstr>WHO ARE THE END USERS?</vt:lpstr>
      <vt:lpstr>Technology Used</vt:lpstr>
      <vt:lpstr>RESULTS </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Ankitha M</cp:lastModifiedBy>
  <cp:revision>74</cp:revision>
  <dcterms:created xsi:type="dcterms:W3CDTF">2021-07-11T13:13:15Z</dcterms:created>
  <dcterms:modified xsi:type="dcterms:W3CDTF">2026-10-07T16:20:40Z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